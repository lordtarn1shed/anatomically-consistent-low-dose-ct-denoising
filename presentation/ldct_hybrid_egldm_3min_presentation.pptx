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5"/>
  </p:normalViewPr>
  <p:slideViewPr>
    <p:cSldViewPr snapToGrid="0" snapToObjects="1">
      <p:cViewPr>
        <p:scale>
          <a:sx n="101" d="100"/>
          <a:sy n="101" d="100"/>
        </p:scale>
        <p:origin x="304" y="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Aptos"/>
              </a:rPr>
              <a:t>Hybrid Edge-Guided Diffusion Refinement for Leakage-Free LDCT Denoising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248034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300" b="0" dirty="0" err="1">
                <a:solidFill>
                  <a:srgbClr val="6E7682"/>
                </a:solidFill>
                <a:latin typeface="Aptos"/>
              </a:rPr>
              <a:t>Zhexi</a:t>
            </a:r>
            <a:r>
              <a:rPr sz="1300" b="0" dirty="0">
                <a:solidFill>
                  <a:srgbClr val="6E7682"/>
                </a:solidFill>
                <a:latin typeface="Aptos"/>
              </a:rPr>
              <a:t> Feng, </a:t>
            </a:r>
            <a:r>
              <a:rPr sz="1300" b="0" dirty="0" err="1">
                <a:solidFill>
                  <a:srgbClr val="6E7682"/>
                </a:solidFill>
                <a:latin typeface="Aptos"/>
              </a:rPr>
              <a:t>Bingrui</a:t>
            </a:r>
            <a:r>
              <a:rPr sz="1300" b="0" dirty="0">
                <a:solidFill>
                  <a:srgbClr val="6E7682"/>
                </a:solidFill>
                <a:latin typeface="Aptos"/>
              </a:rPr>
              <a:t> Zhang | UC San Diego | </a:t>
            </a:r>
            <a:r>
              <a:rPr lang="en-US" altLang="zh-CN" sz="1300" b="0" dirty="0">
                <a:solidFill>
                  <a:srgbClr val="6E7682"/>
                </a:solidFill>
                <a:latin typeface="Aptos"/>
              </a:rPr>
              <a:t>ECE</a:t>
            </a:r>
            <a:r>
              <a:rPr lang="zh-CN" altLang="en-US" sz="1300" b="0" dirty="0">
                <a:solidFill>
                  <a:srgbClr val="6E7682"/>
                </a:solidFill>
                <a:latin typeface="Aptos"/>
              </a:rPr>
              <a:t> </a:t>
            </a:r>
            <a:r>
              <a:rPr lang="en-US" altLang="zh-CN" sz="1300" dirty="0">
                <a:solidFill>
                  <a:srgbClr val="6E7682"/>
                </a:solidFill>
                <a:latin typeface="Aptos"/>
              </a:rPr>
              <a:t>D</a:t>
            </a:r>
            <a:r>
              <a:rPr lang="en-US" altLang="zh-CN" sz="1300" b="0" dirty="0">
                <a:solidFill>
                  <a:srgbClr val="6E7682"/>
                </a:solidFill>
                <a:latin typeface="Aptos"/>
              </a:rPr>
              <a:t>epartment</a:t>
            </a:r>
            <a:endParaRPr sz="1300" b="0" dirty="0">
              <a:solidFill>
                <a:srgbClr val="6E7682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783082"/>
            <a:ext cx="10789920" cy="658368"/>
          </a:xfrm>
          <a:prstGeom prst="rect">
            <a:avLst/>
          </a:prstGeom>
          <a:solidFill>
            <a:srgbClr val="E2F1F4"/>
          </a:solidFill>
          <a:ln>
            <a:solidFill>
              <a:srgbClr val="E2F1F4"/>
            </a:solidFill>
          </a:ln>
        </p:spPr>
        <p:txBody>
          <a:bodyPr wrap="square" lIns="73152" tIns="73152" rIns="73152" bIns="73152">
            <a:normAutofit fontScale="92500" lnSpcReduction="10000"/>
          </a:bodyPr>
          <a:lstStyle/>
          <a:p>
            <a:pPr algn="l"/>
            <a:r>
              <a:rPr sz="1900" b="1">
                <a:solidFill>
                  <a:srgbClr val="121F35"/>
                </a:solidFill>
                <a:latin typeface="Aptos"/>
              </a:rPr>
              <a:t>Main message: diffusion is most effective here as a conservative anatomical refiner around a strong deterministic RED-CNN anchor.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697482"/>
            <a:ext cx="2331720" cy="1097280"/>
          </a:xfrm>
          <a:prstGeom prst="roundRect">
            <a:avLst/>
          </a:prstGeom>
          <a:solidFill>
            <a:srgbClr val="E6F4EC"/>
          </a:solidFill>
          <a:ln>
            <a:solidFill>
              <a:srgbClr val="E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70634"/>
            <a:ext cx="2185416" cy="201168"/>
          </a:xfrm>
          <a:prstGeom prst="rect">
            <a:avLst/>
          </a:prstGeom>
          <a:noFill/>
        </p:spPr>
        <p:txBody>
          <a:bodyPr wrap="square" lIns="73152" tIns="73152" rIns="73152" bIns="73152">
            <a:noAutofit/>
          </a:bodyPr>
          <a:lstStyle/>
          <a:p>
            <a:pPr algn="l"/>
            <a:r>
              <a:rPr sz="1000" b="1" dirty="0">
                <a:solidFill>
                  <a:srgbClr val="6E7682"/>
                </a:solidFill>
                <a:latin typeface="Aptos"/>
              </a:rP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08378"/>
            <a:ext cx="2185416" cy="786384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>
                <a:solidFill>
                  <a:srgbClr val="121F35"/>
                </a:solidFill>
                <a:latin typeface="Aptos"/>
              </a:rPr>
              <a:t>1,010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697482"/>
            <a:ext cx="2651760" cy="1097280"/>
          </a:xfrm>
          <a:prstGeom prst="roundRect">
            <a:avLst/>
          </a:prstGeom>
          <a:solidFill>
            <a:srgbClr val="E6F4EC"/>
          </a:solidFill>
          <a:ln>
            <a:solidFill>
              <a:srgbClr val="E6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64992" y="2770634"/>
            <a:ext cx="2505456" cy="201168"/>
          </a:xfrm>
          <a:prstGeom prst="rect">
            <a:avLst/>
          </a:prstGeom>
          <a:noFill/>
        </p:spPr>
        <p:txBody>
          <a:bodyPr wrap="square" lIns="73152" tIns="73152" rIns="73152" bIns="73152">
            <a:noAutofit/>
          </a:bodyPr>
          <a:lstStyle/>
          <a:p>
            <a:pPr algn="l"/>
            <a:r>
              <a:rPr sz="1000" b="1" dirty="0">
                <a:solidFill>
                  <a:srgbClr val="6E7682"/>
                </a:solidFill>
                <a:latin typeface="Aptos"/>
              </a:rPr>
              <a:t>Valid CT slices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3008378"/>
            <a:ext cx="2505456" cy="786384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>
                <a:solidFill>
                  <a:srgbClr val="121F35"/>
                </a:solidFill>
                <a:latin typeface="Aptos"/>
              </a:rPr>
              <a:t>243,957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697482"/>
            <a:ext cx="4206240" cy="1097280"/>
          </a:xfrm>
          <a:prstGeom prst="roundRect">
            <a:avLst/>
          </a:prstGeom>
          <a:solidFill>
            <a:srgbClr val="F8EBE9"/>
          </a:solidFill>
          <a:ln>
            <a:solidFill>
              <a:srgbClr val="F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770634"/>
            <a:ext cx="4059936" cy="201168"/>
          </a:xfrm>
          <a:prstGeom prst="rect">
            <a:avLst/>
          </a:prstGeom>
          <a:noFill/>
        </p:spPr>
        <p:txBody>
          <a:bodyPr wrap="square" lIns="73152" tIns="73152" rIns="73152" bIns="73152">
            <a:noAutofit/>
          </a:bodyPr>
          <a:lstStyle/>
          <a:p>
            <a:pPr algn="l"/>
            <a:r>
              <a:rPr sz="1000" b="1" dirty="0">
                <a:solidFill>
                  <a:srgbClr val="6E7682"/>
                </a:solidFill>
                <a:latin typeface="Aptos"/>
              </a:rPr>
              <a:t>Hybrid test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3008378"/>
            <a:ext cx="4059936" cy="786384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>
                <a:solidFill>
                  <a:srgbClr val="127288"/>
                </a:solidFill>
                <a:latin typeface="Aptos"/>
              </a:rPr>
              <a:t>35.12 / 0.904 / 0.0356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2"/>
            <a:ext cx="6583680" cy="201168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Leakage-free patient-level LIDC-IDRI protocol on raw DICOM.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Hybrid EG-LDM slightly exceeds the RED-CNN anchor on the held-out test split.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Standalone diffusion is weaker; hybrid refinement is the key result.</a:t>
            </a:r>
          </a:p>
        </p:txBody>
      </p:sp>
      <p:pic>
        <p:nvPicPr>
          <p:cNvPr id="16" name="Picture 15" descr="hybrid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527710"/>
            <a:ext cx="3886200" cy="15059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612880" y="6428232"/>
            <a:ext cx="2743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Aptos"/>
              </a:rPr>
              <a:t>Why This Benchmark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024128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800" b="1">
                <a:solidFill>
                  <a:srgbClr val="127288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074920" cy="214884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Low-dose CT denoising must reduce noise without inventing anatomy.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Slice-level random splits in volumetric CT can leak near-duplicate anatomy.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LIDC-IDRI has real anatomy but not paired standard-dose / low-dose scans.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03320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800" b="1">
                <a:solidFill>
                  <a:srgbClr val="127288"/>
                </a:solidFill>
                <a:latin typeface="Aptos"/>
              </a:rPr>
              <a:t>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977639"/>
            <a:ext cx="5486400" cy="196596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Scan 382,009 candidate DICOM files and retain 243,957 valid CT slices from 1,010 patients.</a:t>
            </a:r>
          </a:p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Persist patient-level train / val / test splits: 808 / 101 / 101 patients.</a:t>
            </a:r>
          </a:p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Construct paired supervision by adding signal-dependent Gaussian corruption to clean preprocessed CT slices.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2194560" cy="914400"/>
          </a:xfrm>
          <a:prstGeom prst="roundRect">
            <a:avLst/>
          </a:prstGeom>
          <a:solidFill>
            <a:srgbClr val="E2F1F4"/>
          </a:solidFill>
          <a:ln>
            <a:solidFill>
              <a:srgbClr val="E2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307592"/>
            <a:ext cx="2048256" cy="201168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100" b="1">
                <a:solidFill>
                  <a:srgbClr val="6E7682"/>
                </a:solidFill>
                <a:latin typeface="Aptos"/>
              </a:rPr>
              <a:t>Train / Val / Test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545336"/>
            <a:ext cx="2048256" cy="603504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>
                <a:solidFill>
                  <a:srgbClr val="121F35"/>
                </a:solidFill>
                <a:latin typeface="Aptos"/>
              </a:rPr>
              <a:t>808 / 101 / 101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234440"/>
            <a:ext cx="1463040" cy="914400"/>
          </a:xfrm>
          <a:prstGeom prst="roundRect">
            <a:avLst/>
          </a:prstGeom>
          <a:solidFill>
            <a:srgbClr val="E2F1F4"/>
          </a:solidFill>
          <a:ln>
            <a:solidFill>
              <a:srgbClr val="E2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71432" y="1307592"/>
            <a:ext cx="1316736" cy="201168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100" b="1">
                <a:solidFill>
                  <a:srgbClr val="6E7682"/>
                </a:solidFill>
                <a:latin typeface="Aptos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545336"/>
            <a:ext cx="1316736" cy="603504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>
                <a:solidFill>
                  <a:srgbClr val="121F35"/>
                </a:solidFill>
                <a:latin typeface="Aptos"/>
              </a:rPr>
              <a:t>1,018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0" y="1234440"/>
            <a:ext cx="1097280" cy="914400"/>
          </a:xfrm>
          <a:prstGeom prst="roundRect">
            <a:avLst/>
          </a:prstGeom>
          <a:solidFill>
            <a:srgbClr val="E2F1F4"/>
          </a:solidFill>
          <a:ln>
            <a:solidFill>
              <a:srgbClr val="E2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63071" y="1307592"/>
            <a:ext cx="937631" cy="310896"/>
          </a:xfrm>
          <a:prstGeom prst="rect">
            <a:avLst/>
          </a:prstGeom>
          <a:noFill/>
        </p:spPr>
        <p:txBody>
          <a:bodyPr wrap="square" lIns="73152" tIns="73152" rIns="73152" bIns="73152">
            <a:normAutofit lnSpcReduction="10000"/>
          </a:bodyPr>
          <a:lstStyle/>
          <a:p>
            <a:pPr algn="l"/>
            <a:r>
              <a:rPr sz="1100" b="1" dirty="0">
                <a:solidFill>
                  <a:srgbClr val="6E7682"/>
                </a:solidFill>
                <a:latin typeface="Aptos"/>
              </a:rPr>
              <a:t>Valid slices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3743" y="1545336"/>
            <a:ext cx="1252728" cy="539496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200" b="1" dirty="0">
                <a:solidFill>
                  <a:srgbClr val="121F35"/>
                </a:solidFill>
                <a:latin typeface="Aptos"/>
              </a:rPr>
              <a:t>243,957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2514600"/>
            <a:ext cx="4785360" cy="2651760"/>
          </a:xfrm>
          <a:prstGeom prst="roundRect">
            <a:avLst/>
          </a:prstGeom>
          <a:solidFill>
            <a:srgbClr val="F6F9FC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76288" y="2697480"/>
            <a:ext cx="27432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700" b="1">
                <a:solidFill>
                  <a:srgbClr val="121F35"/>
                </a:solidFill>
                <a:latin typeface="Aptos"/>
              </a:rPr>
              <a:t>Preprocessing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76288" y="3218688"/>
            <a:ext cx="12344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3328416"/>
            <a:ext cx="12344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Aptos"/>
              </a:rPr>
              <a:t>Raw DICOM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218688"/>
            <a:ext cx="12344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328416"/>
            <a:ext cx="12344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Aptos"/>
              </a:rPr>
              <a:t>HU clip +
normalize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0112" y="3218688"/>
            <a:ext cx="12344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0112" y="3328416"/>
            <a:ext cx="12344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Aptos"/>
              </a:rPr>
              <a:t>Synthetic
LDCT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3639312"/>
            <a:ext cx="256032" cy="0"/>
          </a:xfrm>
          <a:prstGeom prst="line">
            <a:avLst/>
          </a:prstGeom>
          <a:ln w="2540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20072" y="3639312"/>
            <a:ext cx="256032" cy="0"/>
          </a:xfrm>
          <a:prstGeom prst="line">
            <a:avLst/>
          </a:prstGeom>
          <a:ln w="2540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76288" y="4434840"/>
            <a:ext cx="40690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500" b="0">
                <a:solidFill>
                  <a:srgbClr val="2A3441"/>
                </a:solidFill>
                <a:latin typeface="Aptos"/>
              </a:rPr>
              <a:t>Goal: credible, leakage-free evidence before claiming denoising gains.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428232"/>
            <a:ext cx="2743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Aptos"/>
              </a:rPr>
              <a:t>Method: Diffusion as a Conservative Refiner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1508760" cy="731520"/>
          </a:xfrm>
          <a:prstGeom prst="roundRect">
            <a:avLst/>
          </a:prstGeom>
          <a:solidFill>
            <a:srgbClr val="E6F4EC"/>
          </a:solidFill>
          <a:ln>
            <a:solidFill>
              <a:srgbClr val="A0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15087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600" b="1">
                <a:solidFill>
                  <a:srgbClr val="121F35"/>
                </a:solidFill>
                <a:latin typeface="Aptos"/>
              </a:rPr>
              <a:t>Center LDCT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508760" cy="731520"/>
          </a:xfrm>
          <a:prstGeom prst="roundRect">
            <a:avLst/>
          </a:prstGeom>
          <a:solidFill>
            <a:srgbClr val="E6F4EC"/>
          </a:solidFill>
          <a:ln>
            <a:solidFill>
              <a:srgbClr val="A0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15087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600" b="1">
                <a:solidFill>
                  <a:srgbClr val="121F35"/>
                </a:solidFill>
                <a:latin typeface="Aptos"/>
              </a:rPr>
              <a:t>Neighbor
slices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1508760" cy="731520"/>
          </a:xfrm>
          <a:prstGeom prst="roundRect">
            <a:avLst/>
          </a:prstGeom>
          <a:solidFill>
            <a:srgbClr val="E6F4EC"/>
          </a:solidFill>
          <a:ln>
            <a:solidFill>
              <a:srgbClr val="A0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041648"/>
            <a:ext cx="15087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600" b="1">
                <a:solidFill>
                  <a:srgbClr val="121F35"/>
                </a:solidFill>
                <a:latin typeface="Aptos"/>
              </a:rPr>
              <a:t>Edge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1737360" cy="731520"/>
          </a:xfrm>
          <a:prstGeom prst="roundRect">
            <a:avLst/>
          </a:prstGeom>
          <a:solidFill>
            <a:srgbClr val="E2F1F4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1682496"/>
            <a:ext cx="1737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800" b="1">
                <a:solidFill>
                  <a:srgbClr val="121F35"/>
                </a:solidFill>
                <a:latin typeface="Aptos"/>
              </a:rPr>
              <a:t>RED-CNN
anchor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697479"/>
            <a:ext cx="2560320" cy="1965957"/>
          </a:xfrm>
          <a:prstGeom prst="roundRect">
            <a:avLst/>
          </a:prstGeom>
          <a:solidFill>
            <a:srgbClr val="FFFFFF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962656"/>
            <a:ext cx="2432304" cy="1694355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600" b="1" dirty="0">
                <a:solidFill>
                  <a:srgbClr val="121F35"/>
                </a:solidFill>
                <a:latin typeface="Aptos"/>
              </a:rPr>
              <a:t>Edge-guided latent diffusion
LDCT latent + neighbor context + Canny edge prior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97479"/>
            <a:ext cx="2057400" cy="1380731"/>
          </a:xfrm>
          <a:prstGeom prst="roundRect">
            <a:avLst/>
          </a:prstGeom>
          <a:solidFill>
            <a:srgbClr val="F8EBE9"/>
          </a:solidFill>
          <a:ln>
            <a:solidFill>
              <a:srgbClr val="CDA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2862072"/>
            <a:ext cx="1911095" cy="621792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600" b="1" dirty="0">
                <a:solidFill>
                  <a:srgbClr val="121F35"/>
                </a:solidFill>
                <a:latin typeface="Aptos"/>
              </a:rPr>
              <a:t>Anchor-aware blend
+ edge-adaptive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880360"/>
            <a:ext cx="1508760" cy="731520"/>
          </a:xfrm>
          <a:prstGeom prst="roundRect">
            <a:avLst/>
          </a:prstGeom>
          <a:solidFill>
            <a:srgbClr val="E6F4EC"/>
          </a:solidFill>
          <a:ln>
            <a:solidFill>
              <a:srgbClr val="A0C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990088"/>
            <a:ext cx="15087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700" b="1">
                <a:solidFill>
                  <a:srgbClr val="121F35"/>
                </a:solidFill>
                <a:latin typeface="Aptos"/>
              </a:rPr>
              <a:t>Output
x-hat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1920240"/>
            <a:ext cx="502920" cy="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94560" y="3063240"/>
            <a:ext cx="685800" cy="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60" y="4297680"/>
            <a:ext cx="685800" cy="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840" y="1920240"/>
            <a:ext cx="1554480" cy="114300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80" y="3246120"/>
            <a:ext cx="548640" cy="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46720" y="3246120"/>
            <a:ext cx="411480" cy="0"/>
          </a:xfrm>
          <a:prstGeom prst="line">
            <a:avLst/>
          </a:prstGeom>
          <a:ln w="27940">
            <a:solidFill>
              <a:srgbClr val="127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983480"/>
            <a:ext cx="10424160" cy="132588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Key idea: the diffusion branch predicts a small structured residual, not the entire reconstruction.</a:t>
            </a:r>
          </a:p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Edge guidance and 2.5D neighboring slices improve structural awareness.</a:t>
            </a:r>
          </a:p>
          <a:p>
            <a:pPr algn="l">
              <a:defRPr sz="1700" b="0">
                <a:solidFill>
                  <a:srgbClr val="2A3441"/>
                </a:solidFill>
                <a:latin typeface="Aptos"/>
              </a:defRPr>
            </a:pPr>
            <a:r>
              <a:t>Auxiliary intensity and gradient losses translate structural gains into pixel fidelity.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428232"/>
            <a:ext cx="2743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Aptos"/>
              </a:rPr>
              <a:t>Quantitative Results on the Held-Out Test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erformanc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36734"/>
            <a:ext cx="6355080" cy="41423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69480" y="1417320"/>
            <a:ext cx="1640433" cy="525780"/>
          </a:xfrm>
          <a:prstGeom prst="roundRect">
            <a:avLst/>
          </a:prstGeom>
          <a:solidFill>
            <a:srgbClr val="127288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69480" y="1435608"/>
            <a:ext cx="1640433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9913" y="1417320"/>
            <a:ext cx="799185" cy="525780"/>
          </a:xfrm>
          <a:prstGeom prst="roundRect">
            <a:avLst/>
          </a:prstGeom>
          <a:solidFill>
            <a:srgbClr val="127288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09913" y="1435608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PSNR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09099" y="1417320"/>
            <a:ext cx="799185" cy="525780"/>
          </a:xfrm>
          <a:prstGeom prst="roundRect">
            <a:avLst/>
          </a:prstGeom>
          <a:solidFill>
            <a:srgbClr val="127288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09099" y="1435608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08284" y="1417320"/>
            <a:ext cx="799185" cy="525780"/>
          </a:xfrm>
          <a:prstGeom prst="roundRect">
            <a:avLst/>
          </a:prstGeom>
          <a:solidFill>
            <a:srgbClr val="127288"/>
          </a:solidFill>
          <a:ln>
            <a:solidFill>
              <a:srgbClr val="127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08284" y="1435608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RMSE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943100"/>
            <a:ext cx="1640433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952244"/>
            <a:ext cx="1567281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LDCT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9913" y="194310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9913" y="195224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28.218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9099" y="194310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09099" y="195224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0.6244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08284" y="194310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08284" y="195224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0.08176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468880"/>
            <a:ext cx="1640433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2478024"/>
            <a:ext cx="1567281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RED-CNN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9913" y="246888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9913" y="247802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35.020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9099" y="246888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09099" y="247802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0.9028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08284" y="246888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08284" y="247802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0.03598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2994660"/>
            <a:ext cx="1640433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3003804"/>
            <a:ext cx="1567281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No-Edge EG-LDM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9913" y="299466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09913" y="300380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27.681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09099" y="299466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09099" y="300380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0.7063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08284" y="299466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08284" y="300380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0.08328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3520440"/>
            <a:ext cx="1640433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0" y="3529584"/>
            <a:ext cx="1567281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Edge-Guided EG-LDM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09913" y="352044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09913" y="352958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28.463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09099" y="352044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09099" y="352958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0.7102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08284" y="3520440"/>
            <a:ext cx="799185" cy="5257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284" y="352958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0">
                <a:solidFill>
                  <a:srgbClr val="2A3441"/>
                </a:solidFill>
                <a:latin typeface="Aptos"/>
              </a:rPr>
              <a:t>0.07652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4046220"/>
            <a:ext cx="1640433" cy="525780"/>
          </a:xfrm>
          <a:prstGeom prst="roundRect">
            <a:avLst/>
          </a:prstGeom>
          <a:solidFill>
            <a:srgbClr val="E2F1F4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0" y="4055364"/>
            <a:ext cx="1567281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200" b="1">
                <a:solidFill>
                  <a:srgbClr val="121F35"/>
                </a:solidFill>
                <a:latin typeface="Aptos"/>
              </a:rPr>
              <a:t>Hybrid EG-LDM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09913" y="4046220"/>
            <a:ext cx="799185" cy="525780"/>
          </a:xfrm>
          <a:prstGeom prst="roundRect">
            <a:avLst/>
          </a:prstGeom>
          <a:solidFill>
            <a:srgbClr val="E2F1F4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9913" y="405536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35.120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09099" y="4046220"/>
            <a:ext cx="799185" cy="525780"/>
          </a:xfrm>
          <a:prstGeom prst="roundRect">
            <a:avLst/>
          </a:prstGeom>
          <a:solidFill>
            <a:srgbClr val="E2F1F4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09099" y="405536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0.9040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08284" y="4046220"/>
            <a:ext cx="799185" cy="525780"/>
          </a:xfrm>
          <a:prstGeom prst="roundRect">
            <a:avLst/>
          </a:prstGeom>
          <a:solidFill>
            <a:srgbClr val="E2F1F4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08284" y="4055364"/>
            <a:ext cx="799185" cy="5257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0.03558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4992624"/>
            <a:ext cx="4224528" cy="960120"/>
          </a:xfrm>
          <a:prstGeom prst="roundRect">
            <a:avLst/>
          </a:prstGeom>
          <a:solidFill>
            <a:srgbClr val="E2F1F4"/>
          </a:solidFill>
          <a:ln>
            <a:solidFill>
              <a:srgbClr val="127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52360" y="5010912"/>
            <a:ext cx="3858768" cy="566928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ctr"/>
            <a:r>
              <a:rPr sz="1800" b="1">
                <a:solidFill>
                  <a:srgbClr val="121F35"/>
                </a:solidFill>
                <a:latin typeface="Aptos"/>
              </a:rPr>
              <a:t>Hybrid vs RED-CNN
+0.0998 dB PSNR | +0.00123 SSIM | -0.00040 RMSE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0" y="6428232"/>
            <a:ext cx="2743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2800" b="1">
                <a:solidFill>
                  <a:srgbClr val="121F35"/>
                </a:solidFill>
                <a:latin typeface="Aptos"/>
              </a:rPr>
              <a:t>Qualitative Result and 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ybri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44" y="1051560"/>
            <a:ext cx="9933271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246120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800" b="1">
                <a:solidFill>
                  <a:srgbClr val="127288"/>
                </a:solidFill>
                <a:latin typeface="Aptos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84448"/>
            <a:ext cx="6583680" cy="192024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Edge guidance improves the diffusion family over the no-edge ablation.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Standalone diffusion remains soft; the best role of diffusion is hybrid refinement.</a:t>
            </a:r>
          </a:p>
          <a:p>
            <a:pPr algn="l">
              <a:defRPr sz="1800" b="0">
                <a:solidFill>
                  <a:srgbClr val="2A3441"/>
                </a:solidFill>
                <a:latin typeface="Aptos"/>
              </a:defRPr>
            </a:pPr>
            <a:r>
              <a:t>Conservative anchor-aware and edge-adaptive fusion keeps the output tethered to measured LDCT.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364992"/>
            <a:ext cx="3566160" cy="2139696"/>
          </a:xfrm>
          <a:prstGeom prst="roundRect">
            <a:avLst/>
          </a:prstGeom>
          <a:solidFill>
            <a:srgbClr val="F6F9FC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28431" y="3566160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l"/>
            <a:r>
              <a:rPr sz="1800" b="1">
                <a:solidFill>
                  <a:srgbClr val="127288"/>
                </a:solidFill>
                <a:latin typeface="Aptos"/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840480"/>
            <a:ext cx="3017520" cy="914400"/>
          </a:xfrm>
          <a:prstGeom prst="rect">
            <a:avLst/>
          </a:prstGeom>
          <a:noFill/>
        </p:spPr>
        <p:txBody>
          <a:bodyPr wrap="square" lIns="54864" tIns="18288" rIns="36576">
            <a:normAutofit/>
          </a:bodyPr>
          <a:lstStyle/>
          <a:p>
            <a:pPr algn="l">
              <a:defRPr sz="1500" b="0">
                <a:solidFill>
                  <a:srgbClr val="2A3441"/>
                </a:solidFill>
                <a:latin typeface="Aptos"/>
              </a:defRPr>
            </a:pPr>
            <a:r>
              <a:t>Low-dose measurements are synthetic, not paired clinical acquisitions.</a:t>
            </a:r>
          </a:p>
          <a:p>
            <a:pPr algn="l">
              <a:defRPr sz="1500" b="0">
                <a:solidFill>
                  <a:srgbClr val="2A3441"/>
                </a:solidFill>
                <a:latin typeface="Aptos"/>
              </a:defRPr>
            </a:pPr>
            <a:r>
              <a:t>Result gain over RED-CNN is modest but consistent under the reported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6035040"/>
            <a:ext cx="1371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2000" b="1">
                <a:solidFill>
                  <a:srgbClr val="121F35"/>
                </a:solidFill>
                <a:latin typeface="Aptos"/>
              </a:rPr>
              <a:t>Thank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28232"/>
            <a:ext cx="27432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normAutofit/>
          </a:bodyPr>
          <a:lstStyle/>
          <a:p>
            <a:pPr algn="r"/>
            <a:r>
              <a:rPr sz="1000" b="0">
                <a:solidFill>
                  <a:srgbClr val="6E76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414</Words>
  <Application>Microsoft Macintosh PowerPoint</Application>
  <PresentationFormat>宽屏</PresentationFormat>
  <Paragraphs>83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lordtarn1shed@outlook.com</cp:lastModifiedBy>
  <cp:revision>2</cp:revision>
  <dcterms:created xsi:type="dcterms:W3CDTF">2013-01-27T09:14:16Z</dcterms:created>
  <dcterms:modified xsi:type="dcterms:W3CDTF">2026-03-07T14:39:46Z</dcterms:modified>
  <cp:category/>
</cp:coreProperties>
</file>